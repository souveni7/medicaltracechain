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3908" autoAdjust="0"/>
  </p:normalViewPr>
  <p:slideViewPr>
    <p:cSldViewPr snapToGrid="0" snapToObjects="1">
      <p:cViewPr varScale="1">
        <p:scale>
          <a:sx n="81" d="100"/>
          <a:sy n="81" d="100"/>
        </p:scale>
        <p:origin x="17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67844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afternoon. This is </a:t>
            </a:r>
            <a:r>
              <a:rPr lang="en-US" dirty="0" err="1"/>
              <a:t>MedicalTraceChain</a:t>
            </a:r>
            <a:r>
              <a:rPr lang="en-US" dirty="0"/>
              <a:t>, our system for tracking medicine batches. Who did what is on the screen: I wrote the registry contract and the deployment; </a:t>
            </a:r>
            <a:r>
              <a:rPr lang="en-US" dirty="0" err="1"/>
              <a:t>Yankai</a:t>
            </a:r>
            <a:r>
              <a:rPr lang="en-US" dirty="0"/>
              <a:t> wrote the monitor contract and the oracle; </a:t>
            </a:r>
            <a:r>
              <a:rPr lang="en-US" dirty="0" err="1"/>
              <a:t>Purui</a:t>
            </a:r>
            <a:r>
              <a:rPr lang="en-US" dirty="0"/>
              <a:t> and Fei wrote the tests; Zhenyu wrote the off-chain parts. The system is live on </a:t>
            </a:r>
            <a:r>
              <a:rPr lang="en-US" dirty="0" err="1"/>
              <a:t>Sepolia</a:t>
            </a:r>
            <a:r>
              <a:rPr lang="en-US" dirty="0"/>
              <a:t> now.</a:t>
            </a:r>
          </a:p>
          <a:p>
            <a:r>
              <a:rPr lang="en-US" dirty="0"/>
              <a:t>SLIDE 1 — Title &amp; team          [0:20]  (cum 0:20)   </a:t>
            </a:r>
            <a:r>
              <a:rPr lang="en-US" dirty="0" err="1"/>
              <a:t>Yankai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design. On the left: four parties, each with a wallet and an on-chain role. In the middle: two contracts on </a:t>
            </a:r>
            <a:r>
              <a:rPr lang="en-US" dirty="0" err="1"/>
              <a:t>Sepolia</a:t>
            </a:r>
            <a:r>
              <a:rPr lang="en-US" dirty="0"/>
              <a:t>. </a:t>
            </a:r>
            <a:r>
              <a:rPr lang="en-US" dirty="0" err="1"/>
              <a:t>BatchRegistry</a:t>
            </a:r>
            <a:r>
              <a:rPr lang="en-US" dirty="0"/>
              <a:t> handles register, transfer, verify, and recall. </a:t>
            </a:r>
            <a:r>
              <a:rPr lang="en-US" dirty="0" err="1"/>
              <a:t>ColdChainMonitor</a:t>
            </a:r>
            <a:r>
              <a:rPr lang="en-US" dirty="0"/>
              <a:t> receives temperature data. If a reading is outside two to eight degrees, it quarantines the batch by itself, with a cross-contract call. Only this contract can do that — no person can. On the right: the off-chain parts. The oracle service reads the sensors and sends signed data. The store keeps metadata and patient data off-chain. The rule is simple: state goes on-chain; private data stays off-chain; only hashes connect them.</a:t>
            </a:r>
          </a:p>
          <a:p>
            <a:r>
              <a:rPr lang="en-US" dirty="0"/>
              <a:t>SLIDE 2 — Architecture          [0:40]  (cum 1:00)   </a:t>
            </a:r>
            <a:r>
              <a:rPr lang="en-US" dirty="0" err="1"/>
              <a:t>Yankai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changes since Task 2. First, the platform. Task 2 chose Fabric. We kept the same idea — only known, approved parties can write — but we now enforce it with roles inside the contract, on public Ethereum. So anyone can check our system on </a:t>
            </a:r>
            <a:r>
              <a:rPr lang="en-US" dirty="0" err="1"/>
              <a:t>Etherscan</a:t>
            </a:r>
            <a:r>
              <a:rPr lang="en-US" dirty="0"/>
              <a:t>, and we have real contract addresses. Second, we hardened the oracle: one </a:t>
            </a:r>
            <a:r>
              <a:rPr lang="en-US" dirty="0" err="1"/>
              <a:t>authorised</a:t>
            </a:r>
            <a:r>
              <a:rPr lang="en-US" dirty="0"/>
              <a:t> account, and the contract checks every reading. Third, non-repudiation is now real: every write is a signed transaction, so we always know who did what. Fourth, clear scope: the three MUSTs and the SHOULD are fully on-chain; the IoT part is simulated. In production we would move to a consortium chain — the contracts would not change.</a:t>
            </a:r>
          </a:p>
          <a:p>
            <a:r>
              <a:rPr lang="en-US" dirty="0"/>
              <a:t>SLIDE 3 — Changes after feedback [0:40]  (cum 1:40)   </a:t>
            </a:r>
            <a:r>
              <a:rPr lang="en-US" dirty="0" err="1"/>
              <a:t>Purui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table maps each requirement to a contract function — you will see all of them in the demo. The first four are fully on-chain. The cold-chain one uses simulated sensors. The NFRs at the bottom each map to a real mechanism, not a promise. Now the demo.</a:t>
            </a:r>
          </a:p>
          <a:p>
            <a:r>
              <a:rPr lang="en-US" dirty="0"/>
              <a:t>SLIDE 4 — Requirements          [0:20]  (cum 2:00)   </a:t>
            </a:r>
            <a:r>
              <a:rPr lang="en-US" dirty="0" err="1"/>
              <a:t>Purui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facts. Solidity, Hardhat, </a:t>
            </a:r>
            <a:r>
              <a:rPr lang="en-US" dirty="0" err="1"/>
              <a:t>OpenZeppelin</a:t>
            </a:r>
            <a:r>
              <a:rPr lang="en-US" dirty="0"/>
              <a:t>; the oracle is Node.js. Both contracts are on </a:t>
            </a:r>
            <a:r>
              <a:rPr lang="en-US" dirty="0" err="1"/>
              <a:t>Sepolia</a:t>
            </a:r>
            <a:r>
              <a:rPr lang="en-US" dirty="0"/>
              <a:t> — addresses are in addresses.txt. We used six patterns from this course: oracle, access control, state machine, emergency stop, hash anchoring, checks-effects-interactions. Thirty-one unit tests, all passing, covering both good and bad paths. The repo is clean and easy to reproduce.</a:t>
            </a:r>
          </a:p>
          <a:p>
            <a:r>
              <a:rPr lang="fr-FR" dirty="0"/>
              <a:t>SLIDE 5 — Implementation        [0:30]  (cum 2:30)   Fei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one batch, full life cycle, five steps. Two steps fail on purpose — because the contract enforces the rules, not our app. We run locally for speed; the same flow is already on </a:t>
            </a:r>
            <a:r>
              <a:rPr lang="en-US" dirty="0" err="1"/>
              <a:t>Sepolia</a:t>
            </a:r>
            <a:r>
              <a:rPr lang="en-US" dirty="0"/>
              <a:t>.</a:t>
            </a:r>
          </a:p>
          <a:p>
            <a:r>
              <a:rPr lang="en-US" dirty="0"/>
              <a:t>SLIDE 6 — Demo plan             [0:15]  (cum 2:45)   Fei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for Q&amp;A. The state machine: transfers and readings only while Active; quarantine is reversible by a regulator, recall and dispense are terminal. Costs are small. On limitations we are upfront: the trusted single oracle is the known weak point, and we can explain the decentralisation path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0"/>
          </a:xfrm>
          <a:prstGeom prst="rect">
            <a:avLst/>
          </a:prstGeom>
          <a:solidFill>
            <a:srgbClr val="155E75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66928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MedicalTraceChain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FE7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Pharmaceutical Supply-Chain Traceability on a Public Blockchain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1783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D5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COMP6452 Software Architecture for Blockchain Applications · Project 2 — Task 3: Development &amp; Demo · 2026 T2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&amp; contributions (who did what)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154680"/>
          <a:ext cx="10241280" cy="1975104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Member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zID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Contribution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Qiyan Ye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z5641220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BatchRegistry contract · Sepolia deployment · demo lead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Yankai Hou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z5581423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ColdChainMonitor contract · oracle service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Purui Liu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z5607790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BatchRegistry unit tests · FR/NFR traceability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Fei Teng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z5615053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ColdChainMonitor unit tests · feedback-response analysis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Zhenyu Zhang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z5619801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Off-chain store &amp; demo scripts · slides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8064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on Sepolia:  </a:t>
            </a: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BatchRegistry 0x94DA9460…  ·  ColdChainMonitor 0xB8Cc1066…  ·  github.com/Souveni7/MedicalTraceChain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MedicalTraceChain · COMP6452 Project 2 · Task 3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DESIGN · 1/3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Finalised architecture — on-chain core, off-chain services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005840" cy="4114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5" name="Shape 3"/>
          <p:cNvSpPr/>
          <p:nvPr/>
        </p:nvSpPr>
        <p:spPr>
          <a:xfrm>
            <a:off x="411480" y="1600200"/>
            <a:ext cx="2103120" cy="3291840"/>
          </a:xfrm>
          <a:prstGeom prst="roundRect">
            <a:avLst>
              <a:gd name="adj" fmla="val 2174"/>
            </a:avLst>
          </a:prstGeom>
          <a:solidFill>
            <a:srgbClr val="F3F4F6"/>
          </a:solidFill>
          <a:ln w="15875">
            <a:solidFill>
              <a:srgbClr val="9CA3A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4632" y="1645920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Participants (EOAs)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057400"/>
            <a:ext cx="1792224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1031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Manufacturer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304288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MANUFACTURER_ROLE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792224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7889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Distributor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2990088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DISTRIBUTOR_ROLE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792224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747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Pharmacy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3675888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PHARMACY_ROLE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66928" y="4114800"/>
            <a:ext cx="1792224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1605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Regulator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361688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REGULATOR_ROLE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063240" y="1417320"/>
            <a:ext cx="4434840" cy="4480560"/>
          </a:xfrm>
          <a:prstGeom prst="roundRect">
            <a:avLst>
              <a:gd name="adj" fmla="val 1031"/>
            </a:avLst>
          </a:prstGeom>
          <a:solidFill>
            <a:srgbClr val="E6F3F7"/>
          </a:solidFill>
          <a:ln w="19050">
            <a:solidFill>
              <a:srgbClr val="0E74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36392" y="1463040"/>
            <a:ext cx="42885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Ethereum — Sepolia public testnet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291840" y="1965960"/>
            <a:ext cx="3977640" cy="1572768"/>
          </a:xfrm>
          <a:prstGeom prst="roundRect">
            <a:avLst>
              <a:gd name="adj" fmla="val 2907"/>
            </a:avLst>
          </a:prstGeom>
          <a:solidFill>
            <a:srgbClr val="FFFFFF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2011680"/>
            <a:ext cx="38313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BatchRegistry  (state machine + RBAC)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64992" y="2313432"/>
            <a:ext cx="3831336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registerBatch · transferCustody · dispenseBatch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verifyBatch · recallBatch · quarantineBatch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On-chain: batch id, dates, custody history,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status, metadata hash — no raw data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91840" y="4160520"/>
            <a:ext cx="397764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64992" y="4206240"/>
            <a:ext cx="38313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ColdChainMonitor  (oracle ingress)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364992" y="4507992"/>
            <a:ext cx="383133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reportReading: validate reading → check 2–8 °C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envelope → count excursions → at limit, cross-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contract call auto-quarantines the batch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V="1">
            <a:off x="4617720" y="3538728"/>
            <a:ext cx="0" cy="621792"/>
          </a:xfrm>
          <a:prstGeom prst="line">
            <a:avLst/>
          </a:prstGeom>
          <a:noFill/>
          <a:ln w="22225">
            <a:solidFill>
              <a:srgbClr val="155E75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4709160" y="371246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quarantineBatch()  ·  MONITOR_ROLE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8321040" y="1417320"/>
            <a:ext cx="3401568" cy="2103120"/>
          </a:xfrm>
          <a:prstGeom prst="roundRect">
            <a:avLst>
              <a:gd name="adj" fmla="val 2174"/>
            </a:avLst>
          </a:prstGeom>
          <a:solidFill>
            <a:srgbClr val="FDF3E3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94192" y="1463040"/>
            <a:ext cx="32552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Off-chain store + notifier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394192" y="1764792"/>
            <a:ext cx="3255264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 metadata · patient PII · raw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 logs (file DB standing in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a shared database)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keccak256 hashes on-chain;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notifier rebuilds affected parties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chain events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321040" y="4069080"/>
            <a:ext cx="3401568" cy="1691640"/>
          </a:xfrm>
          <a:prstGeom prst="roundRect">
            <a:avLst>
              <a:gd name="adj" fmla="val 2703"/>
            </a:avLst>
          </a:prstGeom>
          <a:solidFill>
            <a:srgbClr val="FDF3E3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94192" y="4114800"/>
            <a:ext cx="32552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service  (off-chain compute)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394192" y="4416552"/>
            <a:ext cx="3255264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IoT temperature simulator (mock)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raw samples logged off-chain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fault filter + aggregation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signed submit (ORACLE_ROLE)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514600" y="3291840"/>
            <a:ext cx="548640" cy="0"/>
          </a:xfrm>
          <a:prstGeom prst="line">
            <a:avLst/>
          </a:prstGeom>
          <a:noFill/>
          <a:ln w="22225">
            <a:solidFill>
              <a:srgbClr val="155E75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2212848" y="299923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signed txs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 flipH="1">
            <a:off x="7269480" y="2286000"/>
            <a:ext cx="1051560" cy="0"/>
          </a:xfrm>
          <a:prstGeom prst="line">
            <a:avLst/>
          </a:prstGeom>
          <a:noFill/>
          <a:ln w="22225">
            <a:solidFill>
              <a:srgbClr val="B45309"/>
            </a:solidFill>
            <a:prstDash val="dash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7516368" y="1975104"/>
            <a:ext cx="868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 anchor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7269480" y="2880360"/>
            <a:ext cx="1051560" cy="0"/>
          </a:xfrm>
          <a:prstGeom prst="line">
            <a:avLst/>
          </a:prstGeom>
          <a:noFill/>
          <a:ln w="22225">
            <a:solidFill>
              <a:srgbClr val="B45309"/>
            </a:solidFill>
            <a:prstDash val="dash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7516368" y="2926080"/>
            <a:ext cx="868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 flipH="1">
            <a:off x="7269480" y="4892040"/>
            <a:ext cx="1051560" cy="0"/>
          </a:xfrm>
          <a:prstGeom prst="line">
            <a:avLst/>
          </a:prstGeom>
          <a:noFill/>
          <a:ln w="22225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7424928" y="4581144"/>
            <a:ext cx="1051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reportReading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502920" y="60533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rule: </a:t>
            </a:r>
            <a:r>
              <a:rPr lang="en-US" sz="11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state and accountability live on-chain; bulky/sensitive data stays off-chain behind hash anchors. Patient PII never touches the ledger.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MedicalTraceChain · COMP6452 Project 2 · Task 3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DESIGN · 2/3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changed after Task 2 feedback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005840" cy="41148"/>
          </a:xfrm>
          <a:prstGeom prst="rect">
            <a:avLst/>
          </a:prstGeom>
          <a:solidFill>
            <a:srgbClr val="0E7490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01400" cy="3886200"/>
        </p:xfrm>
        <a:graphic>
          <a:graphicData uri="http://schemas.openxmlformats.org/drawingml/2006/table">
            <a:tbl>
              <a:tblPr/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Task 2 gap / feedback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Change in Task 3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Where you'll see it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 architecture (1.75/3): Fabric consortium design was heavy for a PoC and hard to verify externally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Kept the permissioned CONCEPT, changed the mechanism: membership is now contract-level RBAC (OpenZeppelin AccessControl) on public Ethereum Sepolia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 grants at deploy time; unauthorised calls revert in the demo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Alternative design (1.5/2): oracle trust was the weak point of the public-chain option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Oracle hardened: sole ORACLE_ROLE writer, on-chain validation (sensor bounds, monotonic timestamps), raw data kept off-chain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ColdChainMonitor.reportReading + its 11 unit tests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NFRs (1.5/2): non-repudiation needed to be explicit and measurable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write is a signed tx from a role-bound account — permanently attributable in events; integrity = immutable custody history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Custody chain read back from chain; Etherscan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Task 1: scope too broad — state what is built vs mocked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MUSTs (FR1–3) + SHOULD (FR4) fully on-chain; MAY (FR5 IoT) mocked by a simulator; notifications printed, not sent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Scope table on next slide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5742432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Sepolia over Fabric for the PoC: </a:t>
            </a:r>
            <a:r>
              <a:rPr lang="en-US" sz="11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public verifiability (Etherscan), mature tooling (Hardhat/OpenZeppelin), and deployable contract addresses. In production, a consortium chain or L2 would be revisited for cost and data-privacy reasons — the contracts port unchanged.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MedicalTraceChain · COMP6452 Project 2 · Task 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DESIGN · 3/3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Requirements → implementation traceability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005840" cy="4114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9844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Functional requirements (RFC 2119)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201400" cy="2304288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Level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Implementation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FR1 Batch registration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registerBatch — id, dates, metadata hash; manufacturer-only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✔ on-chain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FR2 Custody transfer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transferCustody — custodian-only, participant recipients, full history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✔ on-chain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FR3 Verification lookup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verifyBatch + off-chain hash re-check; dispenseBatch closes lifecycle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✔ on-chain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FR4 Recall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SHOULD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recallBatch (regulator / own manufacturer) + off-chain notifier from events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✔ on-chain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FR5 IoT cold chain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ColdChainMonitor + oracle service; sensors are simulated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◐ mocked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3977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Non-functional requirements</a:t>
            </a:r>
            <a:endParaRPr lang="en-US" sz="13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61104"/>
          <a:ext cx="11201400" cy="2057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15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NFR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How the design meets it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5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Security &amp; integrity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Append-only ledger; writes gated by roles; state machine forbids illegal moves; global pause switch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Non-repudiation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Signed role-bound txs; custody history + events permanently attribute who did what, when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Privacy &amp; compliance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PII and metadata off-chain; only keccak256 anchors on-chain (HIPAA/GDPR-aligned principle)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Scalability / availability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On-chain footprint minimised (hashes + events); reads are free view calls; PoC inherits testnet limits — quantified targets would drive an L2/consortium choice in production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MedicalTraceChain · COMP6452 Project 2 · Task 3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 details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005840" cy="4114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71600"/>
            <a:ext cx="5486400" cy="2286000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1417320"/>
            <a:ext cx="5340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 &amp; deployment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76072" y="1719072"/>
            <a:ext cx="5340096" cy="1883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Solidity 0.8.24 · Hardhat · OpenZeppelin AccessControl/Pausable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ethers v6 · Node.js oracle service · file-based off-chain store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Deployed on Sepolia (see addresses.txt):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BatchRegistry      0x94DA9460706f182F01e82E66d7f3238151B5E796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ColdChainMonitor 0xB8Cc1066Fa57Ba0395F6cae8c05dD3C5927b45Ac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role accounts derived from one mnemonic (same layout locally)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371600"/>
            <a:ext cx="5486400" cy="2286000"/>
          </a:xfrm>
          <a:prstGeom prst="roundRect">
            <a:avLst>
              <a:gd name="adj" fmla="val 2000"/>
            </a:avLst>
          </a:prstGeom>
          <a:solidFill>
            <a:srgbClr val="F3F4F6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2" y="1417320"/>
            <a:ext cx="5340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patterns applied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291072" y="1719072"/>
            <a:ext cx="5340096" cy="1883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— sole authorised data feed; raw readings stay off-chain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restriction (RBAC) — 5 roles incl. contract-held MONITOR_ROLE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 machine — Active → Dispensed / Quarantined / Recalled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Emergency stop — per-batch recall (terminal) + global Pausable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 anchoring — off-chain records, on-chain keccak256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Checks-effects-interactions · custom errors · indexed events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" y="3886200"/>
            <a:ext cx="5486400" cy="2011680"/>
          </a:xfrm>
          <a:prstGeom prst="roundRect">
            <a:avLst>
              <a:gd name="adj" fmla="val 2273"/>
            </a:avLst>
          </a:prstGeom>
          <a:solidFill>
            <a:srgbClr val="E6F3F7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3931920"/>
            <a:ext cx="5340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Testing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76072" y="4233672"/>
            <a:ext cx="534009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unit tests (Hardhat + Chai + fixtures) — all passing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Positive paths and every revert asserted by custom error: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violations, state-machine violations, expired batches,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stale/faulty sensor data, excursion-limit edge cases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npx hardhat test — reproducible from a clean clone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3886200"/>
            <a:ext cx="5486400" cy="2011680"/>
          </a:xfrm>
          <a:prstGeom prst="roundRect">
            <a:avLst>
              <a:gd name="adj" fmla="val 2273"/>
            </a:avLst>
          </a:prstGeom>
          <a:solidFill>
            <a:srgbClr val="E6F3F7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91072" y="3931920"/>
            <a:ext cx="5340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quality practices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291072" y="4233672"/>
            <a:ext cx="534009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NatSpec on every public function · interface-decoupled contracts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Canonical JSON hashing for deterministic anchors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repo: no artefacts/, node_modules/, .env in Git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(main): github.com/Souveni7/MedicalTraceChain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Gas: register 188k · transfer 113k · oracle report 70k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MedicalTraceChain · COMP6452 Project 2 · Task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· 5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 — one batch, full lifecycle, on-chain evidence at every step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005840" cy="4114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554480"/>
            <a:ext cx="210312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1600200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Deploy &amp; roles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76072" y="1901952"/>
            <a:ext cx="195681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contracts + role grants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 permissioned membership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361188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06040" y="2560320"/>
            <a:ext cx="201168" cy="0"/>
          </a:xfrm>
          <a:prstGeom prst="line">
            <a:avLst/>
          </a:prstGeom>
          <a:noFill/>
          <a:ln w="19050">
            <a:solidFill>
              <a:srgbClr val="155E7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07208" y="1554480"/>
            <a:ext cx="210312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80360" y="1600200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Register (FR1)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880360" y="1901952"/>
            <a:ext cx="195681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 → off-chain file;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 → on-chain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RBAC rejects distributor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807208" y="361188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910328" y="2560320"/>
            <a:ext cx="201168" cy="0"/>
          </a:xfrm>
          <a:prstGeom prst="line">
            <a:avLst/>
          </a:prstGeom>
          <a:noFill/>
          <a:ln w="19050">
            <a:solidFill>
              <a:srgbClr val="155E7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11496" y="1554480"/>
            <a:ext cx="210312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84648" y="1600200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Transfer (FR2)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184648" y="1901952"/>
            <a:ext cx="195681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Manufacturer → distributor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pharmacy; illegal re-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transfer reverts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111496" y="361188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214616" y="2560320"/>
            <a:ext cx="201168" cy="0"/>
          </a:xfrm>
          <a:prstGeom prst="line">
            <a:avLst/>
          </a:prstGeom>
          <a:noFill/>
          <a:ln w="19050">
            <a:solidFill>
              <a:srgbClr val="155E7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415784" y="1554480"/>
            <a:ext cx="2103120" cy="2011680"/>
          </a:xfrm>
          <a:prstGeom prst="roundRect">
            <a:avLst>
              <a:gd name="adj" fmla="val 2273"/>
            </a:avLst>
          </a:prstGeom>
          <a:solidFill>
            <a:srgbClr val="E6F3F7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88936" y="1600200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· Cold chain (FR5)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488936" y="1901952"/>
            <a:ext cx="195681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streams 2–8 °C;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injected 15.3 °C spike →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auto-quarantine on-chain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415784" y="361188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518904" y="2560320"/>
            <a:ext cx="201168" cy="0"/>
          </a:xfrm>
          <a:prstGeom prst="line">
            <a:avLst/>
          </a:prstGeom>
          <a:noFill/>
          <a:ln w="19050">
            <a:solidFill>
              <a:srgbClr val="155E75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720072" y="1554480"/>
            <a:ext cx="210312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93224" y="1600200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· Verify &amp; recall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793224" y="1901952"/>
            <a:ext cx="195681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Verdict: QUARANTINED;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regulator recalls; notifier</a:t>
            </a:r>
            <a:endParaRPr lang="en-US" sz="9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lists every past holder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720072" y="361188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02920" y="4206240"/>
            <a:ext cx="11201400" cy="1600200"/>
          </a:xfrm>
          <a:prstGeom prst="roundRect">
            <a:avLst>
              <a:gd name="adj" fmla="val 2857"/>
            </a:avLst>
          </a:prstGeom>
          <a:solidFill>
            <a:srgbClr val="F3F4F6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" y="4251960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 watch for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76072" y="4553712"/>
            <a:ext cx="11055096" cy="1197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Every action prints: WHO signed · the TX HASH · which EVENTS fired — the component communication is the demo</a:t>
            </a:r>
            <a:endParaRPr lang="en-US" sz="10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Step 4 is one transaction doing real business logic: TemperatureExcursion → QuarantineTriggered → BatchQuarantined (cross-contract)</a:t>
            </a:r>
            <a:endParaRPr lang="en-US" sz="10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Two deliberate failures are part of the script — the contract, not the app, rejects them</a:t>
            </a:r>
            <a:endParaRPr lang="en-US" sz="10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Same flow verified on Sepolia (batch PHX-SEP-01) — inspectable on Etherscan right now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MedicalTraceChain · COMP6452 Project 2 · Task 3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WALKTHROUGH · 3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walkthrough — four stops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005840" cy="4114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17320"/>
            <a:ext cx="1120140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1463040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① BatchRegistry.transferCustody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76072" y="1764792"/>
            <a:ext cx="1105509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state machine in one function: custodian check, participant check,</a:t>
            </a:r>
            <a:endParaRPr lang="en-US" sz="10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expiry rule, history append, event — every illegal move has a custom error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587752"/>
            <a:ext cx="11201400" cy="1024128"/>
          </a:xfrm>
          <a:prstGeom prst="roundRect">
            <a:avLst>
              <a:gd name="adj" fmla="val 4464"/>
            </a:avLst>
          </a:prstGeom>
          <a:solidFill>
            <a:srgbClr val="F3F4F6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6072" y="2633472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② ColdChainMonitor.reportReading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76072" y="2935224"/>
            <a:ext cx="1105509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ingress hardening: sensor bounds, monotonic timestamps, clock-skew</a:t>
            </a:r>
            <a:endParaRPr lang="en-US" sz="10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 → envelope check → excursion counter → cross-contract quarantine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3758184"/>
            <a:ext cx="1120140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" y="3803904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③ oracle/index.js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76072" y="4105656"/>
            <a:ext cx="1105509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Off-chain computation: discovers batches from events, filters faulty samples,</a:t>
            </a:r>
            <a:endParaRPr lang="en-US" sz="10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aggregates, signs as ORACLE_ROLE; raw samples logged off-chain only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4928616"/>
            <a:ext cx="11201400" cy="1024128"/>
          </a:xfrm>
          <a:prstGeom prst="roundRect">
            <a:avLst>
              <a:gd name="adj" fmla="val 4464"/>
            </a:avLst>
          </a:prstGeom>
          <a:solidFill>
            <a:srgbClr val="F3F4F6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" y="4974336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55E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④ test/ColdChainMonitor.test.js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76072" y="5276088"/>
            <a:ext cx="11055096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Excursion-limit test: a 3-strike stability budget — two breaches stay Active,</a:t>
            </a:r>
            <a:endParaRPr lang="en-US" sz="10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third quarantines; proves the tolerance logic, not just the happy path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6172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shown is in the submitted repo — no slides-only pseudocode.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MedicalTraceChain · COMP6452 Project 2 · Task 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· Q&amp;A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11247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 — batch state machine, costs, limitations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005840" cy="4114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828800"/>
            <a:ext cx="1554480" cy="548640"/>
          </a:xfrm>
          <a:prstGeom prst="roundRect">
            <a:avLst>
              <a:gd name="adj" fmla="val 8333"/>
            </a:avLst>
          </a:prstGeom>
          <a:solidFill>
            <a:srgbClr val="E6F3F7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874520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234440"/>
            <a:ext cx="1554480" cy="548640"/>
          </a:xfrm>
          <a:prstGeom prst="roundRect">
            <a:avLst>
              <a:gd name="adj" fmla="val 8333"/>
            </a:avLst>
          </a:prstGeom>
          <a:solidFill>
            <a:srgbClr val="F3F4F6"/>
          </a:solidFill>
          <a:ln w="15875">
            <a:solidFill>
              <a:srgbClr val="9CA3A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64992" y="1280160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Dispensed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2423160"/>
            <a:ext cx="1554480" cy="548640"/>
          </a:xfrm>
          <a:prstGeom prst="roundRect">
            <a:avLst>
              <a:gd name="adj" fmla="val 8333"/>
            </a:avLst>
          </a:prstGeom>
          <a:solidFill>
            <a:srgbClr val="FDF3E3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64992" y="2468880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Quarantined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43600" y="1828800"/>
            <a:ext cx="1554480" cy="548640"/>
          </a:xfrm>
          <a:prstGeom prst="roundRect">
            <a:avLst>
              <a:gd name="adj" fmla="val 8333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6752" y="1874520"/>
            <a:ext cx="1408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Recalled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flipV="1">
            <a:off x="2194560" y="1554480"/>
            <a:ext cx="1097280" cy="457200"/>
          </a:xfrm>
          <a:prstGeom prst="line">
            <a:avLst/>
          </a:prstGeom>
          <a:noFill/>
          <a:ln w="22225">
            <a:solidFill>
              <a:srgbClr val="155E7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194560" y="2194560"/>
            <a:ext cx="1097280" cy="457200"/>
          </a:xfrm>
          <a:prstGeom prst="line">
            <a:avLst/>
          </a:prstGeom>
          <a:noFill/>
          <a:ln w="22225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 flipV="1">
            <a:off x="2377440" y="2377440"/>
            <a:ext cx="1143000" cy="45720"/>
          </a:xfrm>
          <a:prstGeom prst="line">
            <a:avLst/>
          </a:prstGeom>
          <a:noFill/>
          <a:ln w="22225">
            <a:solidFill>
              <a:srgbClr val="B45309"/>
            </a:solidFill>
            <a:prstDash val="dash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4846320" y="2286000"/>
            <a:ext cx="1097280" cy="411480"/>
          </a:xfrm>
          <a:prstGeom prst="line">
            <a:avLst/>
          </a:prstGeom>
          <a:noFill/>
          <a:ln w="22225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2194560" y="2057400"/>
            <a:ext cx="3749040" cy="45720"/>
          </a:xfrm>
          <a:prstGeom prst="line">
            <a:avLst/>
          </a:prstGeom>
          <a:noFill/>
          <a:ln w="22225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2057400" y="1298448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dispense (pharmacy)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600200" y="272491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excursion limit (monitor)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468880" y="208483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(regulator)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337560" y="1810512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recall (regulator / manufacturer) — terminal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40080" y="32918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Transfers &amp; readings only while Active · Dispensed and Recalled are terminal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863840" y="1371600"/>
            <a:ext cx="3840480" cy="2194560"/>
          </a:xfrm>
          <a:prstGeom prst="roundRect">
            <a:avLst>
              <a:gd name="adj" fmla="val 2083"/>
            </a:avLst>
          </a:prstGeom>
          <a:solidFill>
            <a:srgbClr val="F3F4F6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36992" y="1417320"/>
            <a:ext cx="36941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936992" y="1719072"/>
            <a:ext cx="3694176" cy="17922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Gas: register 188k · transfer 113k ·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 70k · recall 34k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Sepolia deploy + demo ≈ 0.014 ETH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Default envelope 2–8 °C (WHO);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per-batch override, e.g. −25…−15 °C</a:t>
            </a:r>
            <a:endParaRPr lang="en-US" sz="100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Excursion limit = stability budget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" y="3977640"/>
            <a:ext cx="112014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6072" y="4023360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Known limitations → production path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76072" y="4325112"/>
            <a:ext cx="11055096" cy="1563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Simulated sensors → real IoT gateways signing readings at source (oracle then only aggregates &amp; relays)</a:t>
            </a:r>
            <a:endParaRPr lang="en-US" sz="10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File store → IPFS or a shared DB with access control; same hash anchors, no contract changes</a:t>
            </a:r>
            <a:endParaRPr lang="en-US" sz="10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Single oracle account → decentralised oracle set or threshold signatures to remove the single trusted feeder</a:t>
            </a:r>
            <a:endParaRPr lang="en-US" sz="1050" dirty="0"/>
          </a:p>
          <a:p>
            <a:pPr marL="0" indent="0" algn="l">
              <a:lnSpc>
                <a:spcPct val="104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Public testnet → consortium chain / L2 for cost, privacy and the quantified throughput targets (contracts port as-is)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MedicalTraceChain · COMP6452 Project 2 · Task 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2206</Words>
  <Application>Microsoft Office PowerPoint</Application>
  <PresentationFormat>宽屏</PresentationFormat>
  <Paragraphs>253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1" baseType="lpstr">
      <vt:lpstr>Arial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火 烟</cp:lastModifiedBy>
  <cp:revision>3</cp:revision>
  <dcterms:created xsi:type="dcterms:W3CDTF">2026-07-26T13:14:29Z</dcterms:created>
  <dcterms:modified xsi:type="dcterms:W3CDTF">2026-07-26T13:57:12Z</dcterms:modified>
</cp:coreProperties>
</file>