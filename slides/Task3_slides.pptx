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908" autoAdjust="0"/>
  </p:normalViewPr>
  <p:slideViewPr>
    <p:cSldViewPr snapToGrid="0" snapToObjects="1">
      <p:cViewPr varScale="1">
        <p:scale>
          <a:sx n="81" d="100"/>
          <a:sy n="81" d="100"/>
        </p:scale>
        <p:origin x="17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78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This is </a:t>
            </a:r>
            <a:r>
              <a:rPr lang="en-US" dirty="0" err="1"/>
              <a:t>MedicalTraceChain</a:t>
            </a:r>
            <a:r>
              <a:rPr lang="en-US" dirty="0"/>
              <a:t>, our system for tracking medicine batches. Who did what is on the screen: I wrote the registry contract and the deployment; </a:t>
            </a:r>
            <a:r>
              <a:rPr lang="en-US" dirty="0" err="1"/>
              <a:t>Yankai</a:t>
            </a:r>
            <a:r>
              <a:rPr lang="en-US" dirty="0"/>
              <a:t> wrote the monitor contract and the oracle; </a:t>
            </a:r>
            <a:r>
              <a:rPr lang="en-US" dirty="0" err="1"/>
              <a:t>Purui</a:t>
            </a:r>
            <a:r>
              <a:rPr lang="en-US" dirty="0"/>
              <a:t> and Fei wrote the tests; Zhenyu wrote the off-chain parts. The system is live on </a:t>
            </a:r>
            <a:r>
              <a:rPr lang="en-US" dirty="0" err="1"/>
              <a:t>Sepolia</a:t>
            </a:r>
            <a:r>
              <a:rPr lang="en-US" dirty="0"/>
              <a:t>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design. On the left: four parties, each with a wallet and an on-chain role. In the middle: two contracts on </a:t>
            </a:r>
            <a:r>
              <a:rPr lang="en-US" dirty="0" err="1"/>
              <a:t>Sepolia</a:t>
            </a:r>
            <a:r>
              <a:rPr lang="en-US" dirty="0"/>
              <a:t>. </a:t>
            </a:r>
            <a:r>
              <a:rPr lang="en-US" dirty="0" err="1"/>
              <a:t>BatchRegistry</a:t>
            </a:r>
            <a:r>
              <a:rPr lang="en-US" dirty="0"/>
              <a:t> handles register, transfer, verify, and recall. </a:t>
            </a:r>
            <a:r>
              <a:rPr lang="en-US" dirty="0" err="1"/>
              <a:t>ColdChainMonitor</a:t>
            </a:r>
            <a:r>
              <a:rPr lang="en-US" dirty="0"/>
              <a:t> receives temperature data. If a reading is outside two to eight degrees, it quarantines the batch by itself, with a cross-contract call. Only this contract can do that — no person can. On the right: the off-chain parts. The oracle service reads the sensors and sends signed data. The store keeps metadata and patient data off-chain. The rule is simple: state goes on-chain; private data stays off-chain; only hashes connect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changes since Task 2. First, the platform. Task 2 chose Fabric. We kept the same idea — only known, approved parties can write — but we now enforce it with roles inside the contract, on public Ethereum. So anyone can check our system on </a:t>
            </a:r>
            <a:r>
              <a:rPr lang="en-US" dirty="0" err="1"/>
              <a:t>Etherscan</a:t>
            </a:r>
            <a:r>
              <a:rPr lang="en-US" dirty="0"/>
              <a:t>, and we have real contract addresses. Second, we hardened the oracle: one </a:t>
            </a:r>
            <a:r>
              <a:rPr lang="en-US" dirty="0" err="1"/>
              <a:t>authorised</a:t>
            </a:r>
            <a:r>
              <a:rPr lang="en-US" dirty="0"/>
              <a:t> account, and the contract checks every reading. Third, non-repudiation is now real: every write is a signed transaction, so we always know who did what. Fourth, clear scope: the three MUSTs and the SHOULD are fully on-chain; the IoT part is simulated. In production we would move to a consortium chain — the contracts would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maps each requirement to a contract function — you will see all of them in the demo. The first four are fully on-chain. The cold-chain one uses simulated sensors. The NFRs at the bottom each map to a real mechanism, not a promise. Now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facts. Solidity, Hardhat, </a:t>
            </a:r>
            <a:r>
              <a:rPr lang="en-US" dirty="0" err="1"/>
              <a:t>OpenZeppelin</a:t>
            </a:r>
            <a:r>
              <a:rPr lang="en-US" dirty="0"/>
              <a:t>; the oracle is Node.js. Both contracts are on </a:t>
            </a:r>
            <a:r>
              <a:rPr lang="en-US" dirty="0" err="1"/>
              <a:t>Sepolia</a:t>
            </a:r>
            <a:r>
              <a:rPr lang="en-US" dirty="0"/>
              <a:t> — addresses are in addresses.txt. We used six patterns from this course: oracle, access control, state machine, emergency stop, hash anchoring, checks-effects-interactions. Thirty-one unit tests, all passing, covering both good and bad paths. The repo is clean and easy to reproduce.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is one batch, full life cycle, five steps. Two steps fail on purpose — because the contract enforces the rules, not our app. We run locally for speed; the same flow is already on </a:t>
            </a:r>
            <a:r>
              <a:rPr lang="en-US" dirty="0" err="1"/>
              <a:t>Sepolia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Q&amp;A. The state machine: transfers and readings only while Active; quarantine is reversible by a regulator, recall and dispense are terminal. Costs are small. On limitations we are upfront: the trusted single oracle is the known weak point, and we can explain the decentralisation path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E7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Pharmaceutical Supply-Chain Traceability on a Public Blockchain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D5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COMP6452 Software Architecture for Blockchain Applications · Project 2 — Task 3: Development &amp; Demo · 2026 T2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&amp; contributions (who did what)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10241280" cy="19751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Member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zID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Contribution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Qiyan Ye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z5641220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BatchRegistry contract · Sepolia deployment · demo lead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Yankai Hou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z5581423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ColdChainMonitor contract · oracle service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Purui Liu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z5607790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BatchRegistry unit tests · FR/NFR traceability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Fei Teng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z5615053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ColdChainMonitor unit tests · feedback-response analysis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Zhenyu Zhang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z5619801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Off-chain store &amp; demo scripts · slides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on Sepolia:  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BatchRegistry 0x94DA9460…  ·  ColdChainMonitor 0xB8Cc1066…  ·  github.com/Souveni7/MedicalTraceChain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DESIGN · 1/3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Finalised architecture — on-chain core, off-chain 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600200"/>
            <a:ext cx="2103120" cy="3291840"/>
          </a:xfrm>
          <a:prstGeom prst="roundRect">
            <a:avLst>
              <a:gd name="adj" fmla="val 2174"/>
            </a:avLst>
          </a:prstGeom>
          <a:solidFill>
            <a:srgbClr val="F3F4F6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64592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 (EOAs)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179222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MANUFACTURER_ROLE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2743200"/>
            <a:ext cx="179222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DISTRIBUTOR_ROLE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79222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6758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PHARMACY_ROLE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179222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3616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REGULATOR_ROLE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63240" y="1417320"/>
            <a:ext cx="4434840" cy="4480560"/>
          </a:xfrm>
          <a:prstGeom prst="roundRect">
            <a:avLst>
              <a:gd name="adj" fmla="val 1031"/>
            </a:avLst>
          </a:prstGeom>
          <a:solidFill>
            <a:srgbClr val="E6F3F7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6392" y="1463040"/>
            <a:ext cx="4288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Ethereum — Sepolia public testnet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91840" y="1965960"/>
            <a:ext cx="397764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011680"/>
            <a:ext cx="3831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BatchRegistry  (state machine + RBAC)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2313432"/>
            <a:ext cx="383133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registerBatch · transferCustody · dispenseBatch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verifyBatch · recallBatch · quarantineBatch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On-chain: batch id, dates, custody history,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status, metadata hash — no raw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4160520"/>
            <a:ext cx="397764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4206240"/>
            <a:ext cx="3831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ColdChainMonitor  (oracle ingress)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64992" y="4507992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reportReading: validate reading → check 2–8 °C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envelope → count excursions → at limit, cross-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call auto-quarantines the batch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V="1">
            <a:off x="4617720" y="3538728"/>
            <a:ext cx="0" cy="621792"/>
          </a:xfrm>
          <a:prstGeom prst="line">
            <a:avLst/>
          </a:prstGeom>
          <a:noFill/>
          <a:ln w="22225">
            <a:solidFill>
              <a:srgbClr val="155E7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709160" y="37124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quarantineBatch()  ·  MONITOR_ROLE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321040" y="1417320"/>
            <a:ext cx="3401568" cy="2103120"/>
          </a:xfrm>
          <a:prstGeom prst="roundRect">
            <a:avLst>
              <a:gd name="adj" fmla="val 2174"/>
            </a:avLst>
          </a:prstGeom>
          <a:solidFill>
            <a:srgbClr val="FDF3E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1463040"/>
            <a:ext cx="3255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Off-chain store + notifier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94192" y="1764792"/>
            <a:ext cx="3255264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metadata · patient PII · raw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logs (file DB standing in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shared database)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keccak256 hashes on-chain;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notifier rebuilds affected parties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chain events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21040" y="4069080"/>
            <a:ext cx="3401568" cy="1691640"/>
          </a:xfrm>
          <a:prstGeom prst="roundRect">
            <a:avLst>
              <a:gd name="adj" fmla="val 2703"/>
            </a:avLst>
          </a:prstGeom>
          <a:solidFill>
            <a:srgbClr val="FDF3E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4114800"/>
            <a:ext cx="3255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service  (off-chain compute)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94192" y="4416552"/>
            <a:ext cx="3255264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temperature simulator (mock)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raw samples logged off-chain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fault filter + aggregation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signed submit (ORACLE_ROLE)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14600" y="3291840"/>
            <a:ext cx="548640" cy="0"/>
          </a:xfrm>
          <a:prstGeom prst="line">
            <a:avLst/>
          </a:prstGeom>
          <a:noFill/>
          <a:ln w="22225">
            <a:solidFill>
              <a:srgbClr val="155E7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212848" y="29992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txs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7269480" y="2286000"/>
            <a:ext cx="1051560" cy="0"/>
          </a:xfrm>
          <a:prstGeom prst="line">
            <a:avLst/>
          </a:prstGeom>
          <a:noFill/>
          <a:ln w="22225">
            <a:solidFill>
              <a:srgbClr val="B45309"/>
            </a:solidFill>
            <a:prstDash val="dash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516368" y="1975104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anchor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69480" y="2880360"/>
            <a:ext cx="1051560" cy="0"/>
          </a:xfrm>
          <a:prstGeom prst="line">
            <a:avLst/>
          </a:prstGeom>
          <a:noFill/>
          <a:ln w="22225">
            <a:solidFill>
              <a:srgbClr val="B45309"/>
            </a:solidFill>
            <a:prstDash val="dash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516368" y="292608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 flipH="1">
            <a:off x="7269480" y="4892040"/>
            <a:ext cx="1051560" cy="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424928" y="4581144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reportReading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2920" y="60533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rule: </a:t>
            </a: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state and accountability live on-chain; bulky/sensitive data stays off-chain behind hash anchors. Patient PII never touches the ledger.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DESIGN · 2/3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changed after Task 2 feedback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38862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Task 2 gap / feedback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 in Task 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you'll see 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architecture (1.75/3): Fabric consortium design was heavy for a PoC and hard to verify externally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Kept the permissioned CONCEPT, changed the mechanism: membership is now contract-level RBAC (OpenZeppelin AccessControl) on public Ethereum Sepolia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grants at deploy time; unauthorised calls revert in the demo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Alternative design (1.5/2): oracle trust was the weak point of the public-chain option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Oracle hardened: sole ORACLE_ROLE writer, on-chain validation (sensor bounds, monotonic timestamps), raw data kept off-chain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ColdChainMonitor.reportReading + its 11 unit tests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NFRs (1.5/2): non-repudiation needed to be explicit and measurable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write is a signed tx from a role-bound account — permanently attributable in events; integrity = immutable custody history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Custody chain read back from chain; Etherscan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Task 1: scope too broad — state what is built vs mocked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MUSTs (FR1–3) + SHOULD (FR4) fully on-chain; MAY (FR5 IoT) mocked by a simulator; notifications printed, not sent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 table on next slide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7424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Sepolia over Fabric for the PoC: </a:t>
            </a: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public verifiability (Etherscan), mature tooling (Hardhat/OpenZeppelin), and deployable contract addresses. In production, a consortium chain or L2 would be revisited for cost and data-privacy reasons — the contracts port unchanged.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DESIGN · 3/3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→ implementation traceability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 (RFC 2119)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23042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Level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FR1 Batch registration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registerBatch — id, dates, metadata hash; manufacturer-only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on-chain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FR2 Custody transfer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transferCustody — custodian-only, participant recipients, full history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on-chain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FR3 Verification lookup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verifyBatch + off-chain hash re-check; dispenseBatch closes lifecycle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on-chain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FR4 Recall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SHOULD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recallBatch (regulator / own manufacturer) + off-chain notifier from events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on-chain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FR5 IoT cold 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ColdChainMonitor + oracle service; sensors are simulated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mocked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Non-functional requirements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61104"/>
          <a:ext cx="11201400" cy="2057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NFR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the design meets 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&amp; integrity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Append-only ledger; writes gated by roles; state machine forbids illegal moves; global pause switch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Non-repudiation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role-bound txs; custody history + events permanently attribute who did what, when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Privacy &amp; compliance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PII and metadata off-chain; only keccak256 anchors on-chain (HIPAA/GDPR-aligned principle)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Scalability / availability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On-chain footprint minimised (hashes + events); reads are free view calls; PoC inherits testnet limits — quantified targets would drive an L2/consortium choice in production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17320"/>
            <a:ext cx="5340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&amp; deployment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072" y="1719072"/>
            <a:ext cx="5340096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Solidity 0.8.24 · Hardhat · OpenZeppelin AccessControl/Pausable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ethers v6 · Node.js oracle service · file-based off-chain store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on Sepolia (see addresses.txt):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BatchRegistry      0x94DA9460706f182F01e82E66d7f3238151B5E796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ColdChainMonitor 0xB8Cc1066Fa57Ba0395F6cae8c05dD3C5927b45Ac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role accounts derived from one mnemonic (same layout locally)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1417320"/>
            <a:ext cx="5340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patterns applied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1072" y="1719072"/>
            <a:ext cx="5340096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— sole authorised data feed; raw readings stay off-chain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restriction (RBAC) — 5 roles incl. contract-held MONITOR_ROLE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machine — Active → Dispensed / Quarantined / Recalled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stop — per-batch recall (terminal) + global Pausable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anchoring — off-chain records, on-chain keccak256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Checks-effects-interactions · custom errors · indexed events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886200"/>
            <a:ext cx="5486400" cy="2011680"/>
          </a:xfrm>
          <a:prstGeom prst="roundRect">
            <a:avLst>
              <a:gd name="adj" fmla="val 2273"/>
            </a:avLst>
          </a:prstGeom>
          <a:solidFill>
            <a:srgbClr val="E6F3F7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931920"/>
            <a:ext cx="5340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" y="4233672"/>
            <a:ext cx="534009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 unit tests (Hardhat + Chai + fixtures) — all passing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Positive paths and every revert asserted by custom error: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violations, state-machine violations, expired batches,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stale/faulty sensor data, excursion-limit edge cases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npx hardhat test — reproducible from a clean clone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886200"/>
            <a:ext cx="5486400" cy="2011680"/>
          </a:xfrm>
          <a:prstGeom prst="roundRect">
            <a:avLst>
              <a:gd name="adj" fmla="val 2273"/>
            </a:avLst>
          </a:prstGeom>
          <a:solidFill>
            <a:srgbClr val="E6F3F7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3931920"/>
            <a:ext cx="5340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 practices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91072" y="4233672"/>
            <a:ext cx="534009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NatSpec on every public function · interface-decoupled contracts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JSON hashing for deterministic anchors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repo: no artefacts/, node_modules/, .env in Git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(main): github.com/Souveni7/MedicalTraceChain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Gas: register 188k · transfer 113k · oracle report 70k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· 5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one batch, full lifecycle, on-chain evidence at every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54480"/>
            <a:ext cx="21031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0020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Deploy &amp; roles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6072" y="1901952"/>
            <a:ext cx="195681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contracts + role grants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permissioned membership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2560320"/>
            <a:ext cx="201168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07208" y="1554480"/>
            <a:ext cx="21031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60020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Register (FR1)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80360" y="1901952"/>
            <a:ext cx="195681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→ off-chain file;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→ on-chain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rejects distributor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07208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10328" y="2560320"/>
            <a:ext cx="201168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11496" y="1554480"/>
            <a:ext cx="21031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160020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Transfer (FR2)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84648" y="1901952"/>
            <a:ext cx="195681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 → distributor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pharmacy; illegal re-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reverts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11496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14616" y="2560320"/>
            <a:ext cx="201168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15784" y="1554480"/>
            <a:ext cx="2103120" cy="2011680"/>
          </a:xfrm>
          <a:prstGeom prst="roundRect">
            <a:avLst>
              <a:gd name="adj" fmla="val 2273"/>
            </a:avLst>
          </a:prstGeom>
          <a:solidFill>
            <a:srgbClr val="E6F3F7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8936" y="160020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Cold chain (FR5)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88936" y="1901952"/>
            <a:ext cx="195681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streams 2–8 °C;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injected 15.3 °C spike →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auto-quarantine on-chain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15784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518904" y="2560320"/>
            <a:ext cx="201168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20072" y="1554480"/>
            <a:ext cx="21031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93224" y="160020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Verify &amp; recall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93224" y="1901952"/>
            <a:ext cx="195681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Verdict: QUARANTINED;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 recalls; notifier</a:t>
            </a:r>
            <a:endParaRPr lang="en-US" sz="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every past holder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20072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206240"/>
            <a:ext cx="11201400" cy="16002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425196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 for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" y="4553712"/>
            <a:ext cx="1105509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action prints: WHO signed · the TX HASH · which EVENTS fired — the component communication is the demo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Step 4 is one transaction doing real business logic: TemperatureExcursion → QuarantineTriggered → BatchQuarantined (cross-contract)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Two deliberate failures are part of the script — the contract, not the app, rejects them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Same flow verified on Sepolia (batch PHX-SEP-01) — inspectable on Etherscan right now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WALKTHROUGH · 3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walkthrough — four stops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112014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6304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BatchRegistry.transferCustody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072" y="1764792"/>
            <a:ext cx="11055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state machine in one function: custodian check, participant check,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expiry rule, history append, event — every illegal move has a custom error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11201400" cy="1024128"/>
          </a:xfrm>
          <a:prstGeom prst="roundRect">
            <a:avLst>
              <a:gd name="adj" fmla="val 4464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633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ColdChainMonitor.reportReading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2935224"/>
            <a:ext cx="11055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ingress hardening: sensor bounds, monotonic timestamps, clock-skew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 → envelope check → excursion counter → cross-contract quarantine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758184"/>
            <a:ext cx="112014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803904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oracle/index.js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" y="4105656"/>
            <a:ext cx="11055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Off-chain computation: discovers batches from events, filters faulty samples,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aggregates, signs as ORACLE_ROLE; raw samples logged off-chain only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928616"/>
            <a:ext cx="11201400" cy="1024128"/>
          </a:xfrm>
          <a:prstGeom prst="roundRect">
            <a:avLst>
              <a:gd name="adj" fmla="val 4464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4974336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test/ColdChainMonitor.test.js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6072" y="5276088"/>
            <a:ext cx="11055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Excursion-limit test: a 3-strike stability budget — two breaches stay Active,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third quarantines; proves the tolerance logic, not just the happy path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shown is in the submitted repo — no slides-only pseudocode.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· Q&amp;A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— batch state machine, costs,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E6F3F7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7452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28016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Dispensed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42316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DF3E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46888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Quarantined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8288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87452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V="1">
            <a:off x="2194560" y="1554480"/>
            <a:ext cx="1097280" cy="457200"/>
          </a:xfrm>
          <a:prstGeom prst="line">
            <a:avLst/>
          </a:prstGeom>
          <a:noFill/>
          <a:ln w="22225">
            <a:solidFill>
              <a:srgbClr val="155E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2194560"/>
            <a:ext cx="1097280" cy="45720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 flipV="1">
            <a:off x="2377440" y="2377440"/>
            <a:ext cx="1143000" cy="45720"/>
          </a:xfrm>
          <a:prstGeom prst="line">
            <a:avLst/>
          </a:prstGeom>
          <a:noFill/>
          <a:ln w="22225">
            <a:solidFill>
              <a:srgbClr val="B45309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4846320" y="2286000"/>
            <a:ext cx="1097280" cy="411480"/>
          </a:xfrm>
          <a:prstGeom prst="line">
            <a:avLst/>
          </a:prstGeom>
          <a:noFill/>
          <a:ln w="22225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2194560" y="2057400"/>
            <a:ext cx="3749040" cy="45720"/>
          </a:xfrm>
          <a:prstGeom prst="line">
            <a:avLst/>
          </a:prstGeom>
          <a:noFill/>
          <a:ln w="22225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057400" y="12984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dispense (pharmacy)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00200" y="27249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excursion limit (monitor)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68880" y="208483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(regulator)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7560" y="18105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 (regulator / manufacturer) — terminal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Transfers &amp; readings only while Active · Dispensed and Recalled are terminal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63840" y="1371600"/>
            <a:ext cx="3840480" cy="2194560"/>
          </a:xfrm>
          <a:prstGeom prst="roundRect">
            <a:avLst>
              <a:gd name="adj" fmla="val 2083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1417320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36992" y="1719072"/>
            <a:ext cx="3694176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Gas: register 188k · transfer 113k ·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70k · recall 34k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Sepolia deploy + demo ≈ 0.014 ETH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envelope 2–8 °C (WHO);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per-batch override, e.g. −25…−15 °C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Excursion limit = stability budget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977640"/>
            <a:ext cx="112014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02336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limitations → production path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" y="4325112"/>
            <a:ext cx="1105509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Simulated sensors → real IoT gateways signing readings at source (oracle then only aggregates &amp; relays)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File store → IPFS or a shared DB with access control; same hash anchors, no contract changes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 oracle account → decentralised oracle set or threshold signatures to remove the single trusted feeder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testnet → consortium chain / L2 for cost, privacy and the quantified throughput targets (contracts port as-is)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MedicalTraceChain · COMP6452 Project 2 · Task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2129</Words>
  <Application>Microsoft Office PowerPoint</Application>
  <PresentationFormat>宽屏</PresentationFormat>
  <Paragraphs>247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火 烟</cp:lastModifiedBy>
  <cp:revision>2</cp:revision>
  <dcterms:created xsi:type="dcterms:W3CDTF">2026-07-26T13:14:29Z</dcterms:created>
  <dcterms:modified xsi:type="dcterms:W3CDTF">2026-07-26T13:46:35Z</dcterms:modified>
</cp:coreProperties>
</file>